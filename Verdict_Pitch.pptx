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B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03504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35D07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035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60" b="1" dirty="0">
                <a:solidFill>
                  <a:srgbClr val="0A0B0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</a:t>
            </a:r>
            <a:endParaRPr lang="en-US" sz="1860" dirty="0"/>
          </a:p>
        </p:txBody>
      </p:sp>
      <p:sp>
        <p:nvSpPr>
          <p:cNvPr id="4" name="Text 2"/>
          <p:cNvSpPr/>
          <p:nvPr/>
        </p:nvSpPr>
        <p:spPr>
          <a:xfrm>
            <a:off x="1371600" y="56692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E8ECF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VERDICT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371600" y="10241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6B738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AUTONOMOUS DUE-DILIGENCE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2240280"/>
            <a:ext cx="10972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4200" b="1" dirty="0">
                <a:solidFill>
                  <a:srgbClr val="E8ECF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 AI analyst that earns a</a:t>
            </a:r>
            <a:endParaRPr lang="en-US" sz="4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4200" b="1" dirty="0">
                <a:solidFill>
                  <a:srgbClr val="35D07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verifiable mandate to act.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58368" y="4160520"/>
            <a:ext cx="9875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9AA2B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Type a company. A crew of specialist agents researches the live web and earnings videos, reasons to a thesis, runs a valuation in a sandbox, and produces a memo, deck and model — then cryptographically signs the verdict and earns a revocable mandate to execute one authorized action. In ~90 seconds.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58368" y="5897880"/>
            <a:ext cx="10881360" cy="0"/>
          </a:xfrm>
          <a:prstGeom prst="line">
            <a:avLst/>
          </a:prstGeom>
          <a:noFill/>
          <a:ln w="12700">
            <a:solidFill>
              <a:srgbClr val="2024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6035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5D07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5 STAGES</a:t>
            </a:r>
            <a:pPr indent="0" marL="0">
              <a:buNone/>
            </a:pPr>
            <a:r>
              <a:rPr lang="en-US" sz="1100" b="1" spc="200" kern="0" dirty="0">
                <a:solidFill>
                  <a:srgbClr val="454B5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·   </a:t>
            </a:r>
            <a:pPr indent="0" marL="0">
              <a:buNone/>
            </a:pPr>
            <a:r>
              <a:rPr lang="en-US" sz="1100" b="1" spc="200" kern="0" dirty="0">
                <a:solidFill>
                  <a:srgbClr val="35D07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8 PLATFORMS</a:t>
            </a:r>
            <a:pPr indent="0" marL="0">
              <a:buNone/>
            </a:pPr>
            <a:r>
              <a:rPr lang="en-US" sz="1100" b="1" spc="200" kern="0" dirty="0">
                <a:solidFill>
                  <a:srgbClr val="454B5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·   </a:t>
            </a:r>
            <a:pPr indent="0" marL="0">
              <a:buNone/>
            </a:pPr>
            <a:r>
              <a:rPr lang="en-US" sz="1100" b="1" spc="200" kern="0" dirty="0">
                <a:solidFill>
                  <a:srgbClr val="35D07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 SIGNED DECISION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875520" y="60350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35D07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● SEALED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B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454B5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VERDICT · AGENT FORGE SG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0607040" y="6437376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54B5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 / 08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40080" y="548640"/>
            <a:ext cx="365760" cy="365760"/>
          </a:xfrm>
          <a:prstGeom prst="roundRect">
            <a:avLst>
              <a:gd name="adj" fmla="val 22000"/>
            </a:avLst>
          </a:prstGeom>
          <a:solidFill>
            <a:srgbClr val="35D0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548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B0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" y="60350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738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14300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E8ECF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Due diligence is slow —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E8ECF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and you can't audit the answer.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5166360" cy="2377440"/>
          </a:xfrm>
          <a:prstGeom prst="rect">
            <a:avLst/>
          </a:prstGeom>
          <a:solidFill>
            <a:srgbClr val="11151F"/>
          </a:solidFill>
          <a:ln w="12700">
            <a:solidFill>
              <a:srgbClr val="20242F"/>
            </a:solidFill>
            <a:prstDash val="solid"/>
          </a:ln>
          <a:effectLst>
            <a:outerShdw sx="100000" sy="100000" kx="0" ky="0" algn="bl" rotWithShape="0" blurRad="203200" dist="76200" dir="8100000">
              <a:srgbClr val="000000">
                <a:alpha val="5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32688" y="297180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35D07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Days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950976" y="40690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9AA2B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 company — research scattered across filings, news, earnings calls and models.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108192" y="2743200"/>
            <a:ext cx="5166360" cy="2377440"/>
          </a:xfrm>
          <a:prstGeom prst="rect">
            <a:avLst/>
          </a:prstGeom>
          <a:solidFill>
            <a:srgbClr val="11151F"/>
          </a:solidFill>
          <a:ln w="12700">
            <a:solidFill>
              <a:srgbClr val="20242F"/>
            </a:solidFill>
            <a:prstDash val="solid"/>
          </a:ln>
          <a:effectLst>
            <a:outerShdw sx="100000" sy="100000" kx="0" ky="0" algn="bl" rotWithShape="0" blurRad="203200" dist="76200" dir="8100000">
              <a:srgbClr val="000000">
                <a:alpha val="5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0" y="297180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F5D5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Zero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6419088" y="40690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9AA2B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verifiable provenance. The deliverable is a PDF that says “trust me, I read everything.”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58368" y="54864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1D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 a world of autonomous agents, an unauditable recommendation is a liability — not a deliverable.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B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454B5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VERDICT · AGENT FORGE SG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0607040" y="6437376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54B5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 / 08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40080" y="548640"/>
            <a:ext cx="365760" cy="365760"/>
          </a:xfrm>
          <a:prstGeom prst="roundRect">
            <a:avLst>
              <a:gd name="adj" fmla="val 22000"/>
            </a:avLst>
          </a:prstGeom>
          <a:solidFill>
            <a:srgbClr val="35D0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548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B0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" y="60350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738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1430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CF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signed, mandate-gated verdict — in ~90 seconds.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58368" y="20116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9AA2B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Verdict turns a company name into an audited investment decision. A crew of agents perceives, reasons, computes and produces — then a notary signs the report and gates the action behind a verifiable mandate. The whole run streams live in an “analyst war room.”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337560"/>
            <a:ext cx="3429000" cy="2148840"/>
          </a:xfrm>
          <a:prstGeom prst="rect">
            <a:avLst/>
          </a:prstGeom>
          <a:solidFill>
            <a:srgbClr val="11151F"/>
          </a:solidFill>
          <a:ln w="12700">
            <a:solidFill>
              <a:srgbClr val="20242F"/>
            </a:solidFill>
            <a:prstDash val="solid"/>
          </a:ln>
          <a:effectLst>
            <a:outerShdw sx="100000" sy="100000" kx="0" ky="0" algn="bl" rotWithShape="0" blurRad="203200" dist="76200" dir="8100000">
              <a:srgbClr val="000000">
                <a:alpha val="5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3337560"/>
            <a:ext cx="54864" cy="2148840"/>
          </a:xfrm>
          <a:prstGeom prst="rect">
            <a:avLst/>
          </a:prstGeom>
          <a:solidFill>
            <a:srgbClr val="35D07F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547872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5D07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~90s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932688" y="452628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AA2B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 a signed, auditable verdict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297680" y="3337560"/>
            <a:ext cx="3429000" cy="2148840"/>
          </a:xfrm>
          <a:prstGeom prst="rect">
            <a:avLst/>
          </a:prstGeom>
          <a:solidFill>
            <a:srgbClr val="11151F"/>
          </a:solidFill>
          <a:ln w="12700">
            <a:solidFill>
              <a:srgbClr val="20242F"/>
            </a:solidFill>
            <a:prstDash val="solid"/>
          </a:ln>
          <a:effectLst>
            <a:outerShdw sx="100000" sy="100000" kx="0" ky="0" algn="bl" rotWithShape="0" blurRad="203200" dist="76200" dir="8100000">
              <a:srgbClr val="000000">
                <a:alpha val="5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97680" y="3337560"/>
            <a:ext cx="54864" cy="2148840"/>
          </a:xfrm>
          <a:prstGeom prst="rect">
            <a:avLst/>
          </a:prstGeom>
          <a:solidFill>
            <a:srgbClr val="35D07F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3547872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ECF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4590288" y="452628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AA2B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specialist agents in one pipeline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955280" y="3337560"/>
            <a:ext cx="3429000" cy="2148840"/>
          </a:xfrm>
          <a:prstGeom prst="rect">
            <a:avLst/>
          </a:prstGeom>
          <a:solidFill>
            <a:srgbClr val="11151F"/>
          </a:solidFill>
          <a:ln w="12700">
            <a:solidFill>
              <a:srgbClr val="20242F"/>
            </a:solidFill>
            <a:prstDash val="solid"/>
          </a:ln>
          <a:effectLst>
            <a:outerShdw sx="100000" sy="100000" kx="0" ky="0" algn="bl" rotWithShape="0" blurRad="203200" dist="76200" dir="8100000">
              <a:srgbClr val="000000">
                <a:alpha val="5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955280" y="3337560"/>
            <a:ext cx="54864" cy="2148840"/>
          </a:xfrm>
          <a:prstGeom prst="rect">
            <a:avLst/>
          </a:prstGeom>
          <a:solidFill>
            <a:srgbClr val="35D07F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0" y="3547872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ECF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8247888" y="452628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AA2B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sponsor platforms — 5 already live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B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454B5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VERDICT · AGENT FORGE SG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0607040" y="6437376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54B5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04 / 08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40080" y="548640"/>
            <a:ext cx="365760" cy="365760"/>
          </a:xfrm>
          <a:prstGeom prst="roundRect">
            <a:avLst>
              <a:gd name="adj" fmla="val 22000"/>
            </a:avLst>
          </a:prstGeom>
          <a:solidFill>
            <a:srgbClr val="35D0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548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B0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" y="60350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738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HOW IT WORKS · THE AGENTIC SPINE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CF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Five specialist agents, one pipeline.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40080" y="2331720"/>
            <a:ext cx="1918411" cy="2743200"/>
          </a:xfrm>
          <a:prstGeom prst="rect">
            <a:avLst/>
          </a:prstGeom>
          <a:solidFill>
            <a:srgbClr val="11151F"/>
          </a:solidFill>
          <a:ln w="12700">
            <a:solidFill>
              <a:srgbClr val="20242F"/>
            </a:solidFill>
            <a:prstDash val="solid"/>
          </a:ln>
          <a:effectLst>
            <a:outerShdw sx="100000" sy="100000" kx="0" ky="0" algn="bl" rotWithShape="0" blurRad="203200" dist="76200" dir="8100000">
              <a:srgbClr val="000000">
                <a:alpha val="5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331720"/>
            <a:ext cx="54864" cy="2743200"/>
          </a:xfrm>
          <a:prstGeom prst="rect">
            <a:avLst/>
          </a:prstGeom>
          <a:solidFill>
            <a:srgbClr val="5B9BFF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2532888"/>
            <a:ext cx="16258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B738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 · PERCEIVE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04672" y="3044952"/>
            <a:ext cx="16258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CF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SCOUT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04672" y="3749040"/>
            <a:ext cx="162580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9AA2B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Bright Data · VideoDB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521915" y="3383280"/>
            <a:ext cx="402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38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›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887675" y="2331720"/>
            <a:ext cx="1918411" cy="2743200"/>
          </a:xfrm>
          <a:prstGeom prst="rect">
            <a:avLst/>
          </a:prstGeom>
          <a:solidFill>
            <a:srgbClr val="11151F"/>
          </a:solidFill>
          <a:ln w="12700">
            <a:solidFill>
              <a:srgbClr val="20242F"/>
            </a:solidFill>
            <a:prstDash val="solid"/>
          </a:ln>
          <a:effectLst>
            <a:outerShdw sx="100000" sy="100000" kx="0" ky="0" algn="bl" rotWithShape="0" blurRad="203200" dist="76200" dir="8100000">
              <a:srgbClr val="000000">
                <a:alpha val="5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887675" y="2331720"/>
            <a:ext cx="54864" cy="2743200"/>
          </a:xfrm>
          <a:prstGeom prst="rect">
            <a:avLst/>
          </a:prstGeom>
          <a:solidFill>
            <a:srgbClr val="5B9BFF"/>
          </a:solidFill>
          <a:ln/>
        </p:spPr>
      </p:sp>
      <p:sp>
        <p:nvSpPr>
          <p:cNvPr id="16" name="Text 14"/>
          <p:cNvSpPr/>
          <p:nvPr/>
        </p:nvSpPr>
        <p:spPr>
          <a:xfrm>
            <a:off x="3052267" y="2532888"/>
            <a:ext cx="16258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B738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 · REASON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052267" y="3044952"/>
            <a:ext cx="16258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CF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ANALYST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052267" y="3749040"/>
            <a:ext cx="162580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9AA2B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Kimi K2 · TokenRouter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69510" y="3383280"/>
            <a:ext cx="402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38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›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135270" y="2331720"/>
            <a:ext cx="1918411" cy="2743200"/>
          </a:xfrm>
          <a:prstGeom prst="rect">
            <a:avLst/>
          </a:prstGeom>
          <a:solidFill>
            <a:srgbClr val="11151F"/>
          </a:solidFill>
          <a:ln w="12700">
            <a:solidFill>
              <a:srgbClr val="20242F"/>
            </a:solidFill>
            <a:prstDash val="solid"/>
          </a:ln>
          <a:effectLst>
            <a:outerShdw sx="100000" sy="100000" kx="0" ky="0" algn="bl" rotWithShape="0" blurRad="203200" dist="76200" dir="8100000">
              <a:srgbClr val="000000">
                <a:alpha val="5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135270" y="2331720"/>
            <a:ext cx="54864" cy="2743200"/>
          </a:xfrm>
          <a:prstGeom prst="rect">
            <a:avLst/>
          </a:prstGeom>
          <a:solidFill>
            <a:srgbClr val="5B9BFF"/>
          </a:solidFill>
          <a:ln/>
        </p:spPr>
      </p:sp>
      <p:sp>
        <p:nvSpPr>
          <p:cNvPr id="22" name="Text 20"/>
          <p:cNvSpPr/>
          <p:nvPr/>
        </p:nvSpPr>
        <p:spPr>
          <a:xfrm>
            <a:off x="5299862" y="2532888"/>
            <a:ext cx="16258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B738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 · COMPUTE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299862" y="3044952"/>
            <a:ext cx="16258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CF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QUANT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299862" y="3749040"/>
            <a:ext cx="162580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9AA2B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Daytona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017106" y="3383280"/>
            <a:ext cx="402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38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›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7382866" y="2331720"/>
            <a:ext cx="1918411" cy="2743200"/>
          </a:xfrm>
          <a:prstGeom prst="rect">
            <a:avLst/>
          </a:prstGeom>
          <a:solidFill>
            <a:srgbClr val="11151F"/>
          </a:solidFill>
          <a:ln w="12700">
            <a:solidFill>
              <a:srgbClr val="20242F"/>
            </a:solidFill>
            <a:prstDash val="solid"/>
          </a:ln>
          <a:effectLst>
            <a:outerShdw sx="100000" sy="100000" kx="0" ky="0" algn="bl" rotWithShape="0" blurRad="203200" dist="76200" dir="8100000">
              <a:srgbClr val="000000">
                <a:alpha val="5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382866" y="2331720"/>
            <a:ext cx="54864" cy="2743200"/>
          </a:xfrm>
          <a:prstGeom prst="rect">
            <a:avLst/>
          </a:prstGeom>
          <a:solidFill>
            <a:srgbClr val="5B9BFF"/>
          </a:solidFill>
          <a:ln/>
        </p:spPr>
      </p:sp>
      <p:sp>
        <p:nvSpPr>
          <p:cNvPr id="28" name="Text 26"/>
          <p:cNvSpPr/>
          <p:nvPr/>
        </p:nvSpPr>
        <p:spPr>
          <a:xfrm>
            <a:off x="7547458" y="2532888"/>
            <a:ext cx="16258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B738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04 · PRODUCE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547458" y="3044952"/>
            <a:ext cx="16258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CF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PRODUCER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547458" y="3749040"/>
            <a:ext cx="162580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9AA2B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python-pptx · openpyxl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264701" y="3383280"/>
            <a:ext cx="402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38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›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9630461" y="2331720"/>
            <a:ext cx="1918411" cy="2743200"/>
          </a:xfrm>
          <a:prstGeom prst="rect">
            <a:avLst/>
          </a:prstGeom>
          <a:solidFill>
            <a:srgbClr val="11151F"/>
          </a:solidFill>
          <a:ln w="12700">
            <a:solidFill>
              <a:srgbClr val="20242F"/>
            </a:solidFill>
            <a:prstDash val="solid"/>
          </a:ln>
          <a:effectLst>
            <a:outerShdw sx="100000" sy="100000" kx="0" ky="0" algn="bl" rotWithShape="0" blurRad="203200" dist="76200" dir="8100000">
              <a:srgbClr val="000000">
                <a:alpha val="5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630461" y="2331720"/>
            <a:ext cx="54864" cy="2743200"/>
          </a:xfrm>
          <a:prstGeom prst="rect">
            <a:avLst/>
          </a:prstGeom>
          <a:solidFill>
            <a:srgbClr val="35D07F"/>
          </a:solidFill>
          <a:ln/>
        </p:spPr>
      </p:sp>
      <p:sp>
        <p:nvSpPr>
          <p:cNvPr id="34" name="Text 32"/>
          <p:cNvSpPr/>
          <p:nvPr/>
        </p:nvSpPr>
        <p:spPr>
          <a:xfrm>
            <a:off x="9795053" y="2532888"/>
            <a:ext cx="16258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B738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05 · VERIFY · ACT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9795053" y="3044952"/>
            <a:ext cx="16258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CF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NOTARY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9795053" y="3749040"/>
            <a:ext cx="162580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9AA2B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Terminal 3 · Nosana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58368" y="53949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A2B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Each agent owns its sponsor APIs. The thesis flows left to right; the Notary signs it and gates the action.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B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454B5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VERDICT · AGENT FORGE SG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0607040" y="6437376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54B5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05 / 08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40080" y="548640"/>
            <a:ext cx="365760" cy="365760"/>
          </a:xfrm>
          <a:prstGeom prst="roundRect">
            <a:avLst>
              <a:gd name="adj" fmla="val 22000"/>
            </a:avLst>
          </a:prstGeom>
          <a:solidFill>
            <a:srgbClr val="35D0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548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B0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" y="60350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738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THE DIFFERENTIATOR · INNOVATION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CF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Identity that enforces execution.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58368" y="21488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E8ECF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Most agents treat identity as a login badge. Verdict makes it a gate.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8368" y="324612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9AA2B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Decentralized ID signs the report into a verifiable credential (Ed25519). A revocable mandate declares what the agent may do — and a cap on how much. The agent acts only inside that mandate.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943600" y="2148840"/>
            <a:ext cx="5330952" cy="1371600"/>
          </a:xfrm>
          <a:prstGeom prst="rect">
            <a:avLst/>
          </a:prstGeom>
          <a:solidFill>
            <a:srgbClr val="140E10"/>
          </a:solidFill>
          <a:ln w="12700">
            <a:solidFill>
              <a:srgbClr val="20242F"/>
            </a:solidFill>
            <a:prstDash val="solid"/>
          </a:ln>
          <a:effectLst>
            <a:outerShdw sx="100000" sy="100000" kx="0" ky="0" algn="bl" rotWithShape="0" blurRad="203200" dist="76200" dir="8100000">
              <a:srgbClr val="000000">
                <a:alpha val="5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943600" y="2148840"/>
            <a:ext cx="54864" cy="1371600"/>
          </a:xfrm>
          <a:prstGeom prst="rect">
            <a:avLst/>
          </a:prstGeom>
          <a:solidFill>
            <a:srgbClr val="EF5D5D"/>
          </a:solidFill>
          <a:ln/>
        </p:spPr>
      </p:sp>
      <p:sp>
        <p:nvSpPr>
          <p:cNvPr id="12" name="Text 10"/>
          <p:cNvSpPr/>
          <p:nvPr/>
        </p:nvSpPr>
        <p:spPr>
          <a:xfrm>
            <a:off x="6172200" y="2313432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738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MANDATE GATE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172200" y="2606040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2B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request: </a:t>
            </a:r>
            <a:pPr indent="0" marL="0">
              <a:buNone/>
            </a:pPr>
            <a:r>
              <a:rPr lang="en-US" sz="1250" dirty="0">
                <a:solidFill>
                  <a:srgbClr val="EF9D9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open_position($50,000,000)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72200" y="2990088"/>
            <a:ext cx="1143000" cy="310896"/>
          </a:xfrm>
          <a:prstGeom prst="rect">
            <a:avLst/>
          </a:prstGeom>
          <a:solidFill>
            <a:srgbClr val="EF5D5D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2990088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A0B0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DENIED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424928" y="299008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9D9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mandate exceeded · cap $10M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0" y="3703320"/>
            <a:ext cx="5330952" cy="1783080"/>
          </a:xfrm>
          <a:prstGeom prst="rect">
            <a:avLst/>
          </a:prstGeom>
          <a:solidFill>
            <a:srgbClr val="0C1611"/>
          </a:solidFill>
          <a:ln w="12700">
            <a:solidFill>
              <a:srgbClr val="20242F"/>
            </a:solidFill>
            <a:prstDash val="solid"/>
          </a:ln>
          <a:effectLst>
            <a:outerShdw sx="100000" sy="100000" kx="0" ky="0" algn="bl" rotWithShape="0" blurRad="203200" dist="76200" dir="8100000">
              <a:srgbClr val="000000">
                <a:alpha val="5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43600" y="3703320"/>
            <a:ext cx="54864" cy="1783080"/>
          </a:xfrm>
          <a:prstGeom prst="rect">
            <a:avLst/>
          </a:prstGeom>
          <a:solidFill>
            <a:srgbClr val="35D07F"/>
          </a:solidFill>
          <a:ln/>
        </p:spPr>
      </p:sp>
      <p:sp>
        <p:nvSpPr>
          <p:cNvPr id="19" name="Text 17"/>
          <p:cNvSpPr/>
          <p:nvPr/>
        </p:nvSpPr>
        <p:spPr>
          <a:xfrm>
            <a:off x="6172200" y="3867912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738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MANDATE GATE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172200" y="4160520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2B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request: </a:t>
            </a:r>
            <a:pPr indent="0" marL="0">
              <a:buNone/>
            </a:pPr>
            <a:r>
              <a:rPr lang="en-US" sz="1250" dirty="0">
                <a:solidFill>
                  <a:srgbClr val="C9D1D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commit_report + flag_ic_review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172200" y="4544568"/>
            <a:ext cx="1143000" cy="310896"/>
          </a:xfrm>
          <a:prstGeom prst="rect">
            <a:avLst/>
          </a:prstGeom>
          <a:solidFill>
            <a:srgbClr val="35D07F"/>
          </a:solidFill>
          <a:ln/>
        </p:spPr>
      </p:sp>
      <p:sp>
        <p:nvSpPr>
          <p:cNvPr id="22" name="Text 20"/>
          <p:cNvSpPr/>
          <p:nvPr/>
        </p:nvSpPr>
        <p:spPr>
          <a:xfrm>
            <a:off x="6172200" y="4544568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A0B0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AUTHORIZED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424928" y="454456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E3A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signature verified ✓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72200" y="502920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5D07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↳ git commit 7e1d4a · verdict-reports@main ✓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58368" y="58064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C9D1D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 show it get denied, then authorized — live. No other team's agent can say that.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B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454B5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VERDICT · AGENT FORGE SG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0607040" y="6437376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54B5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06 / 08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40080" y="548640"/>
            <a:ext cx="365760" cy="365760"/>
          </a:xfrm>
          <a:prstGeom prst="roundRect">
            <a:avLst>
              <a:gd name="adj" fmla="val 22000"/>
            </a:avLst>
          </a:prstGeom>
          <a:solidFill>
            <a:srgbClr val="35D0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548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B0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" y="60350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738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BREADTH · EIGHT PLATFORMS, EACH LOAD-BEARING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CF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One product that genuinely needs the whole stack.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640080" y="2194560"/>
            <a:ext cx="2521458" cy="1554480"/>
          </a:xfrm>
          <a:prstGeom prst="rect">
            <a:avLst/>
          </a:prstGeom>
          <a:solidFill>
            <a:srgbClr val="11151F"/>
          </a:solidFill>
          <a:ln w="12700">
            <a:solidFill>
              <a:srgbClr val="20242F"/>
            </a:solidFill>
            <a:prstDash val="solid"/>
          </a:ln>
          <a:effectLst>
            <a:outerShdw sx="100000" sy="100000" kx="0" ky="0" algn="bl" rotWithShape="0" blurRad="203200" dist="76200" dir="8100000">
              <a:srgbClr val="000000">
                <a:alpha val="5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194560"/>
            <a:ext cx="54864" cy="1554480"/>
          </a:xfrm>
          <a:prstGeom prst="rect">
            <a:avLst/>
          </a:prstGeom>
          <a:solidFill>
            <a:srgbClr val="35D07F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2432304"/>
            <a:ext cx="2155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CF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Bright Data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2889504"/>
            <a:ext cx="21556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2B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live web · MCP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41248" y="3310128"/>
            <a:ext cx="2155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35D07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● LIVE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435858" y="2194560"/>
            <a:ext cx="2521458" cy="1554480"/>
          </a:xfrm>
          <a:prstGeom prst="rect">
            <a:avLst/>
          </a:prstGeom>
          <a:solidFill>
            <a:srgbClr val="11151F"/>
          </a:solidFill>
          <a:ln w="12700">
            <a:solidFill>
              <a:srgbClr val="20242F"/>
            </a:solidFill>
            <a:prstDash val="solid"/>
          </a:ln>
          <a:effectLst>
            <a:outerShdw sx="100000" sy="100000" kx="0" ky="0" algn="bl" rotWithShape="0" blurRad="203200" dist="76200" dir="8100000">
              <a:srgbClr val="000000">
                <a:alpha val="5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35858" y="2194560"/>
            <a:ext cx="54864" cy="1554480"/>
          </a:xfrm>
          <a:prstGeom prst="rect">
            <a:avLst/>
          </a:prstGeom>
          <a:solidFill>
            <a:srgbClr val="35D07F"/>
          </a:solidFill>
          <a:ln/>
        </p:spPr>
      </p:sp>
      <p:sp>
        <p:nvSpPr>
          <p:cNvPr id="15" name="Text 13"/>
          <p:cNvSpPr/>
          <p:nvPr/>
        </p:nvSpPr>
        <p:spPr>
          <a:xfrm>
            <a:off x="3637026" y="2432304"/>
            <a:ext cx="2155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CF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Kimi K2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637026" y="2889504"/>
            <a:ext cx="21556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2B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reasoning · 256K ctx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37026" y="3310128"/>
            <a:ext cx="2155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35D07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● LIVE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231636" y="2194560"/>
            <a:ext cx="2521458" cy="1554480"/>
          </a:xfrm>
          <a:prstGeom prst="rect">
            <a:avLst/>
          </a:prstGeom>
          <a:solidFill>
            <a:srgbClr val="11151F"/>
          </a:solidFill>
          <a:ln w="12700">
            <a:solidFill>
              <a:srgbClr val="20242F"/>
            </a:solidFill>
            <a:prstDash val="solid"/>
          </a:ln>
          <a:effectLst>
            <a:outerShdw sx="100000" sy="100000" kx="0" ky="0" algn="bl" rotWithShape="0" blurRad="203200" dist="76200" dir="8100000">
              <a:srgbClr val="000000">
                <a:alpha val="5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31636" y="2194560"/>
            <a:ext cx="54864" cy="1554480"/>
          </a:xfrm>
          <a:prstGeom prst="rect">
            <a:avLst/>
          </a:prstGeom>
          <a:solidFill>
            <a:srgbClr val="35D07F"/>
          </a:solidFill>
          <a:ln/>
        </p:spPr>
      </p:sp>
      <p:sp>
        <p:nvSpPr>
          <p:cNvPr id="20" name="Text 18"/>
          <p:cNvSpPr/>
          <p:nvPr/>
        </p:nvSpPr>
        <p:spPr>
          <a:xfrm>
            <a:off x="6432804" y="2432304"/>
            <a:ext cx="2155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CF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Daytona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32804" y="2889504"/>
            <a:ext cx="21556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2B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secure sandbox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432804" y="3310128"/>
            <a:ext cx="2155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35D07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● LIVE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027414" y="2194560"/>
            <a:ext cx="2521458" cy="1554480"/>
          </a:xfrm>
          <a:prstGeom prst="rect">
            <a:avLst/>
          </a:prstGeom>
          <a:solidFill>
            <a:srgbClr val="11151F"/>
          </a:solidFill>
          <a:ln w="12700">
            <a:solidFill>
              <a:srgbClr val="20242F"/>
            </a:solidFill>
            <a:prstDash val="solid"/>
          </a:ln>
          <a:effectLst>
            <a:outerShdw sx="100000" sy="100000" kx="0" ky="0" algn="bl" rotWithShape="0" blurRad="203200" dist="76200" dir="8100000">
              <a:srgbClr val="000000">
                <a:alpha val="5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027414" y="2194560"/>
            <a:ext cx="54864" cy="1554480"/>
          </a:xfrm>
          <a:prstGeom prst="rect">
            <a:avLst/>
          </a:prstGeom>
          <a:solidFill>
            <a:srgbClr val="35D07F"/>
          </a:solidFill>
          <a:ln/>
        </p:spPr>
      </p:sp>
      <p:sp>
        <p:nvSpPr>
          <p:cNvPr id="25" name="Text 23"/>
          <p:cNvSpPr/>
          <p:nvPr/>
        </p:nvSpPr>
        <p:spPr>
          <a:xfrm>
            <a:off x="9228582" y="2432304"/>
            <a:ext cx="2155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CF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VideoDB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228582" y="2889504"/>
            <a:ext cx="21556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2B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earnings-video search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228582" y="3310128"/>
            <a:ext cx="2155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35D07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● LIVE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40080" y="4023360"/>
            <a:ext cx="2521458" cy="1554480"/>
          </a:xfrm>
          <a:prstGeom prst="rect">
            <a:avLst/>
          </a:prstGeom>
          <a:solidFill>
            <a:srgbClr val="11151F"/>
          </a:solidFill>
          <a:ln w="12700">
            <a:solidFill>
              <a:srgbClr val="20242F"/>
            </a:solidFill>
            <a:prstDash val="solid"/>
          </a:ln>
          <a:effectLst>
            <a:outerShdw sx="100000" sy="100000" kx="0" ky="0" algn="bl" rotWithShape="0" blurRad="203200" dist="76200" dir="8100000">
              <a:srgbClr val="000000">
                <a:alpha val="5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0080" y="4023360"/>
            <a:ext cx="54864" cy="1554480"/>
          </a:xfrm>
          <a:prstGeom prst="rect">
            <a:avLst/>
          </a:prstGeom>
          <a:solidFill>
            <a:srgbClr val="35D07F"/>
          </a:solidFill>
          <a:ln/>
        </p:spPr>
      </p:sp>
      <p:sp>
        <p:nvSpPr>
          <p:cNvPr id="30" name="Text 28"/>
          <p:cNvSpPr/>
          <p:nvPr/>
        </p:nvSpPr>
        <p:spPr>
          <a:xfrm>
            <a:off x="841248" y="4261104"/>
            <a:ext cx="2155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CF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Terminal 3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41248" y="4718304"/>
            <a:ext cx="21556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2B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identity · mandate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41248" y="5138928"/>
            <a:ext cx="2155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35D07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● LIVE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435858" y="4023360"/>
            <a:ext cx="2521458" cy="1554480"/>
          </a:xfrm>
          <a:prstGeom prst="rect">
            <a:avLst/>
          </a:prstGeom>
          <a:solidFill>
            <a:srgbClr val="11151F"/>
          </a:solidFill>
          <a:ln w="12700">
            <a:solidFill>
              <a:srgbClr val="20242F"/>
            </a:solidFill>
            <a:prstDash val="solid"/>
          </a:ln>
          <a:effectLst>
            <a:outerShdw sx="100000" sy="100000" kx="0" ky="0" algn="bl" rotWithShape="0" blurRad="203200" dist="76200" dir="8100000">
              <a:srgbClr val="000000">
                <a:alpha val="5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435858" y="4023360"/>
            <a:ext cx="54864" cy="1554480"/>
          </a:xfrm>
          <a:prstGeom prst="rect">
            <a:avLst/>
          </a:prstGeom>
          <a:solidFill>
            <a:srgbClr val="20242F"/>
          </a:solidFill>
          <a:ln/>
        </p:spPr>
      </p:sp>
      <p:sp>
        <p:nvSpPr>
          <p:cNvPr id="35" name="Text 33"/>
          <p:cNvSpPr/>
          <p:nvPr/>
        </p:nvSpPr>
        <p:spPr>
          <a:xfrm>
            <a:off x="3637026" y="4261104"/>
            <a:ext cx="2155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CF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Nosana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3637026" y="4718304"/>
            <a:ext cx="21556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2B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decentralised GPU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637026" y="5138928"/>
            <a:ext cx="2155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B738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○ READY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231636" y="4023360"/>
            <a:ext cx="2521458" cy="1554480"/>
          </a:xfrm>
          <a:prstGeom prst="rect">
            <a:avLst/>
          </a:prstGeom>
          <a:solidFill>
            <a:srgbClr val="11151F"/>
          </a:solidFill>
          <a:ln w="12700">
            <a:solidFill>
              <a:srgbClr val="20242F"/>
            </a:solidFill>
            <a:prstDash val="solid"/>
          </a:ln>
          <a:effectLst>
            <a:outerShdw sx="100000" sy="100000" kx="0" ky="0" algn="bl" rotWithShape="0" blurRad="203200" dist="76200" dir="8100000">
              <a:srgbClr val="000000">
                <a:alpha val="5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231636" y="4023360"/>
            <a:ext cx="54864" cy="1554480"/>
          </a:xfrm>
          <a:prstGeom prst="rect">
            <a:avLst/>
          </a:prstGeom>
          <a:solidFill>
            <a:srgbClr val="20242F"/>
          </a:solidFill>
          <a:ln/>
        </p:spPr>
      </p:sp>
      <p:sp>
        <p:nvSpPr>
          <p:cNvPr id="40" name="Text 38"/>
          <p:cNvSpPr/>
          <p:nvPr/>
        </p:nvSpPr>
        <p:spPr>
          <a:xfrm>
            <a:off x="6432804" y="4261104"/>
            <a:ext cx="2155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CF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TokenRouter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432804" y="4718304"/>
            <a:ext cx="21556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2B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model routing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432804" y="5138928"/>
            <a:ext cx="2155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B738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○ READY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9027414" y="4023360"/>
            <a:ext cx="2521458" cy="1554480"/>
          </a:xfrm>
          <a:prstGeom prst="rect">
            <a:avLst/>
          </a:prstGeom>
          <a:solidFill>
            <a:srgbClr val="11151F"/>
          </a:solidFill>
          <a:ln w="12700">
            <a:solidFill>
              <a:srgbClr val="20242F"/>
            </a:solidFill>
            <a:prstDash val="solid"/>
          </a:ln>
          <a:effectLst>
            <a:outerShdw sx="100000" sy="100000" kx="0" ky="0" algn="bl" rotWithShape="0" blurRad="203200" dist="76200" dir="8100000">
              <a:srgbClr val="000000">
                <a:alpha val="5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9027414" y="4023360"/>
            <a:ext cx="54864" cy="1554480"/>
          </a:xfrm>
          <a:prstGeom prst="rect">
            <a:avLst/>
          </a:prstGeom>
          <a:solidFill>
            <a:srgbClr val="20242F"/>
          </a:solidFill>
          <a:ln/>
        </p:spPr>
      </p:sp>
      <p:sp>
        <p:nvSpPr>
          <p:cNvPr id="45" name="Text 43"/>
          <p:cNvSpPr/>
          <p:nvPr/>
        </p:nvSpPr>
        <p:spPr>
          <a:xfrm>
            <a:off x="9228582" y="4261104"/>
            <a:ext cx="2155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CF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SenseNova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9228582" y="4718304"/>
            <a:ext cx="21556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2B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multimodal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9228582" y="5138928"/>
            <a:ext cx="2155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B738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○ READY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58368" y="58521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1D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Breadth is scored here — and it's honest: remove any one platform and the product visibly loses a capability.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B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454B5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VERDICT · AGENT FORGE SG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0607040" y="6437376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54B5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07 / 08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40080" y="548640"/>
            <a:ext cx="365760" cy="365760"/>
          </a:xfrm>
          <a:prstGeom prst="roundRect">
            <a:avLst>
              <a:gd name="adj" fmla="val 22000"/>
            </a:avLst>
          </a:prstGeom>
          <a:solidFill>
            <a:srgbClr val="35D0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548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B0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" y="60350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738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LIVE, NOT STAGED · COMPLETENESS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CF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Everything is real — and nothing can break.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76656" y="2157984"/>
            <a:ext cx="137160" cy="137160"/>
          </a:xfrm>
          <a:prstGeom prst="ellipse">
            <a:avLst/>
          </a:prstGeom>
          <a:solidFill>
            <a:srgbClr val="35D07F"/>
          </a:solidFill>
          <a:ln/>
        </p:spPr>
      </p:sp>
      <p:sp>
        <p:nvSpPr>
          <p:cNvPr id="9" name="Text 7"/>
          <p:cNvSpPr/>
          <p:nvPr/>
        </p:nvSpPr>
        <p:spPr>
          <a:xfrm>
            <a:off x="987552" y="21031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CF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Live web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57600" y="21031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2B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Real Google SERP via Bright Data — fresh headlines for any company you type.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76656" y="2816352"/>
            <a:ext cx="137160" cy="137160"/>
          </a:xfrm>
          <a:prstGeom prst="ellipse">
            <a:avLst/>
          </a:prstGeom>
          <a:solidFill>
            <a:srgbClr val="35D07F"/>
          </a:solidFill>
          <a:ln/>
        </p:spPr>
      </p:sp>
      <p:sp>
        <p:nvSpPr>
          <p:cNvPr id="12" name="Text 10"/>
          <p:cNvSpPr/>
          <p:nvPr/>
        </p:nvSpPr>
        <p:spPr>
          <a:xfrm>
            <a:off x="987552" y="276148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CF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Live reasoning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57600" y="2761488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2B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Kimi K2 researches a company it has never seen and writes the thesis.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76656" y="3474720"/>
            <a:ext cx="137160" cy="137160"/>
          </a:xfrm>
          <a:prstGeom prst="ellipse">
            <a:avLst/>
          </a:prstGeom>
          <a:solidFill>
            <a:srgbClr val="35D07F"/>
          </a:solidFill>
          <a:ln/>
        </p:spPr>
      </p:sp>
      <p:sp>
        <p:nvSpPr>
          <p:cNvPr id="15" name="Text 13"/>
          <p:cNvSpPr/>
          <p:nvPr/>
        </p:nvSpPr>
        <p:spPr>
          <a:xfrm>
            <a:off x="987552" y="341985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CF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Real compute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657600" y="3419856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2B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valuation model executes in a Daytona sandbox — not a hard-coded number.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76656" y="4133088"/>
            <a:ext cx="137160" cy="137160"/>
          </a:xfrm>
          <a:prstGeom prst="ellipse">
            <a:avLst/>
          </a:prstGeom>
          <a:solidFill>
            <a:srgbClr val="35D07F"/>
          </a:solidFill>
          <a:ln/>
        </p:spPr>
      </p:sp>
      <p:sp>
        <p:nvSpPr>
          <p:cNvPr id="18" name="Text 16"/>
          <p:cNvSpPr/>
          <p:nvPr/>
        </p:nvSpPr>
        <p:spPr>
          <a:xfrm>
            <a:off x="987552" y="407822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CF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Real perception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657600" y="4078224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2B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Earnings-call segments located by spoken-word search in VideoDB.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76656" y="4791456"/>
            <a:ext cx="137160" cy="137160"/>
          </a:xfrm>
          <a:prstGeom prst="ellipse">
            <a:avLst/>
          </a:prstGeom>
          <a:solidFill>
            <a:srgbClr val="35D07F"/>
          </a:solidFill>
          <a:ln/>
        </p:spPr>
      </p:sp>
      <p:sp>
        <p:nvSpPr>
          <p:cNvPr id="21" name="Text 19"/>
          <p:cNvSpPr/>
          <p:nvPr/>
        </p:nvSpPr>
        <p:spPr>
          <a:xfrm>
            <a:off x="987552" y="473659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CF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Real signature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657600" y="47365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2B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Ed25519, DID-bound provenance via the Terminal 3 sidecar.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8368" y="56235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i="1" dirty="0">
                <a:solidFill>
                  <a:srgbClr val="35D07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Degrade-and-continue:  </a:t>
            </a:r>
            <a:pPr indent="0" marL="0">
              <a:buNone/>
            </a:pPr>
            <a:r>
              <a:rPr lang="en-US" sz="1450" i="1" dirty="0">
                <a:solidFill>
                  <a:srgbClr val="C9D1D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if a key or the network fails, that stage falls back to cached data — so every run still reaches the signature.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B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03504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35D07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035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60" b="1" dirty="0">
                <a:solidFill>
                  <a:srgbClr val="0A0B0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</a:t>
            </a:r>
            <a:endParaRPr lang="en-US" sz="1860" dirty="0"/>
          </a:p>
        </p:txBody>
      </p:sp>
      <p:sp>
        <p:nvSpPr>
          <p:cNvPr id="4" name="Text 2"/>
          <p:cNvSpPr/>
          <p:nvPr/>
        </p:nvSpPr>
        <p:spPr>
          <a:xfrm>
            <a:off x="1371600" y="56692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100" kern="0" dirty="0">
                <a:solidFill>
                  <a:srgbClr val="E8ECF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VERDICT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875520" y="67665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35D07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● SEALED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21792" y="2148840"/>
            <a:ext cx="10972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E8ECF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Five stages. Eight platforms.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E8ECF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One signed, auditable decision —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35D07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 90 seconds.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58368" y="457200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9AA2B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Verdict doesn't just read the web — it reasons, values, and then earns the right to act, with a signature you can take to your board.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" y="5897880"/>
            <a:ext cx="10881360" cy="0"/>
          </a:xfrm>
          <a:prstGeom prst="line">
            <a:avLst/>
          </a:prstGeom>
          <a:noFill/>
          <a:ln w="12700">
            <a:solidFill>
              <a:srgbClr val="2024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6035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38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github.com/eugenewong22/verdict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863840" y="6035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6B738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AGENT FORGE SG ·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Verdict — Pitch</dc:title>
  <dc:subject>PptxGenJS Presentation</dc:subject>
  <dc:creator>Verdict</dc:creator>
  <cp:lastModifiedBy>Verdict</cp:lastModifiedBy>
  <cp:revision>1</cp:revision>
  <dcterms:created xsi:type="dcterms:W3CDTF">2026-06-13T07:51:41Z</dcterms:created>
  <dcterms:modified xsi:type="dcterms:W3CDTF">2026-06-13T07:51:41Z</dcterms:modified>
</cp:coreProperties>
</file>